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8" r:id="rId9"/>
    <p:sldId id="262" r:id="rId10"/>
    <p:sldId id="266" r:id="rId11"/>
    <p:sldId id="265" r:id="rId12"/>
    <p:sldId id="263" r:id="rId13"/>
    <p:sldId id="264" r:id="rId1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4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D52CE9-C427-60C6-3331-0F73A8908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464D2B7-B8DB-0E85-5394-B276731DE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FB6153C-4C85-DAC4-E7B9-E5E636C1B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8F1A-D1BA-4A11-947C-40E7EBE411A7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8B1DA2-8621-E4A1-8E2F-C1FB7DA17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DA3826-8FC5-36D3-1AB3-B83AD06EC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71F8-831C-4159-9750-0C54179B9A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6355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31701D-661D-81C1-2472-01FCF4FE6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AE941B5-03F0-3B27-8D26-0DAB65104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42EFAAC-4853-F324-13A2-072029268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8F1A-D1BA-4A11-947C-40E7EBE411A7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5373F55-CBAE-B213-55A5-38ABEABB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6CAF480-B2FA-ECE3-FFE7-4E26591AE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71F8-831C-4159-9750-0C54179B9A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2893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DFDA9B-6B25-BE54-56F5-49DFCC438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F318537-A8EF-436C-7D19-1EFAAB47A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7EFAA9E-C777-64FD-8AC7-82651E02B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8F1A-D1BA-4A11-947C-40E7EBE411A7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1E6393-6DBC-36A6-FDBB-561654B7A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A22EAAA-7431-5878-1B61-030885ABE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71F8-831C-4159-9750-0C54179B9A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8724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46CF9F-BF74-6FA4-9FCB-D482680B9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0936A7-DF64-00CC-5B58-4C060D848A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BDC12F0-CF5A-AA44-A149-540F9D2A4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61C3515-4F3B-7585-1D32-1AF8B58B9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8F1A-D1BA-4A11-947C-40E7EBE411A7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D0C23E1-245B-DA51-9FE5-B28B42BC9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93B3BB6-8D25-7589-99C7-B9050371F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71F8-831C-4159-9750-0C54179B9A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2242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4E8CD6-0AA3-A1A5-7259-7FEA1AAE9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B198821-1089-33AB-E276-1F345E987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D698515-99FC-2F75-768A-03ABAAAB8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BC33E3E-E8CD-82D4-A717-B22658F19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DF1716C-932D-0F5C-29FE-2BD77D22DA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E766B7C-FAB6-97C1-7377-0A3D060D3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8F1A-D1BA-4A11-947C-40E7EBE411A7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CDC525C-6CF3-9492-D19D-F6BD711B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0B7F093-123D-7CCA-4915-7250DBE8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71F8-831C-4159-9750-0C54179B9A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39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72AABF-948C-C935-FD97-E813F8E65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B24C9FC-0F79-6E0F-88A2-D70A5CD3A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8F1A-D1BA-4A11-947C-40E7EBE411A7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FE3F05-2EA5-3382-37AF-806513B0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CDD5658-01B5-975C-5743-CFED5BE0C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71F8-831C-4159-9750-0C54179B9A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6478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6C71A78-EC74-D217-1E1F-C5AEFAC11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8F1A-D1BA-4A11-947C-40E7EBE411A7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F6D8809-9741-321C-BC17-78C1C129A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1F1B7BB-EF22-BE96-0DDD-60656A95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71F8-831C-4159-9750-0C54179B9A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8631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B3BC62-D8D8-1AA9-B50D-6E8B0B3B6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3779667-F5FD-4C5B-5CC2-85759CFA6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938DED0-057B-DAF8-B93D-AD3C97830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172DB71-B51F-0E2D-98AC-892C4992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8F1A-D1BA-4A11-947C-40E7EBE411A7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3EE81C9-4B1E-B9F4-889C-45F2A9BF1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B17DF2C-7373-2262-A840-049A0FBBE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71F8-831C-4159-9750-0C54179B9A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952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F10C48-71E6-8ED8-E126-0E1021EA9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994F54C-047E-4418-4E42-67AE8D31C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22529ED-3142-C12D-5C0E-D99CC52FA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AFBCB7B-00ED-B08D-2A47-2D64A3D88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8F1A-D1BA-4A11-947C-40E7EBE411A7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DB9684C-A3F5-AAC8-DC1F-2C0BF1C53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2201EAE-F192-CF3B-2936-77E0D593D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71F8-831C-4159-9750-0C54179B9A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1559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0A275B-1F81-C6DC-D507-617F8BEE6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906FDA2-FECF-C7A1-6563-50400DBED6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22CB0D0-27E0-C476-641B-0195487D0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8F1A-D1BA-4A11-947C-40E7EBE411A7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0AC5701-DF22-8251-76BB-7720523FC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1EF2697-755F-0E4F-34C4-18FEC8EF5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71F8-831C-4159-9750-0C54179B9A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428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3C77E99-821C-3C18-6A3B-206B16726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292F208-8576-DE67-5DAC-8D60CC3A5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4550D9E-60B9-EF9D-E809-DF5EF618A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8F1A-D1BA-4A11-947C-40E7EBE411A7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5B000CB-89C4-85BF-02B8-4C3700E24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3F69E70-5B0A-605F-ACE4-A9F01069E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71F8-831C-4159-9750-0C54179B9A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4774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53CE433-1B4F-598F-0EE7-10560DA60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BF9D06B-DF47-86F5-F6D0-9F5A8589B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A35E632-DA3A-D54A-A1DB-47EA4FEC98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CA8F1A-D1BA-4A11-947C-40E7EBE411A7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F8D4794-9F36-1864-E909-CA69295ED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AF4FF42-A163-0464-9FB0-3BCD59DEE8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3F71F8-831C-4159-9750-0C54179B9A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8934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F0E4F8-9A57-6E1D-F688-A26F07ECAF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978"/>
            <a:ext cx="9144000" cy="2387600"/>
          </a:xfrm>
        </p:spPr>
        <p:txBody>
          <a:bodyPr/>
          <a:lstStyle/>
          <a:p>
            <a:r>
              <a:rPr lang="en-US" dirty="0"/>
              <a:t>Spotify Global Streaming Data (2024) analysis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6F49021-F03A-0647-DD88-70833A1D7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95838"/>
            <a:ext cx="9144000" cy="1655762"/>
          </a:xfrm>
        </p:spPr>
        <p:txBody>
          <a:bodyPr>
            <a:normAutofit/>
          </a:bodyPr>
          <a:lstStyle/>
          <a:p>
            <a:r>
              <a:rPr lang="it-IT" sz="3600" dirty="0"/>
              <a:t>Matteo Calloni – Daniel Simontacchi</a:t>
            </a:r>
          </a:p>
        </p:txBody>
      </p:sp>
    </p:spTree>
    <p:extLst>
      <p:ext uri="{BB962C8B-B14F-4D97-AF65-F5344CB8AC3E}">
        <p14:creationId xmlns:p14="http://schemas.microsoft.com/office/powerpoint/2010/main" val="1125138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A41D1A8-5E87-5A29-CA35-33B673C85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5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Dataset Composition</a:t>
            </a:r>
            <a:br>
              <a:rPr lang="en-US" sz="25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2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5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egnaposto contenuto 4" descr="Immagine che contiene testo, schermata, linea, numero&#10;&#10;Il contenuto generato dall'IA potrebbe non essere corretto.">
            <a:extLst>
              <a:ext uri="{FF2B5EF4-FFF2-40B4-BE49-F238E27FC236}">
                <a16:creationId xmlns:a16="http://schemas.microsoft.com/office/drawing/2014/main" id="{6988C022-CAEE-3E1C-A2B0-76A60AF7B7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44" y="1919630"/>
            <a:ext cx="5628018" cy="278586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98D98D8-6C4A-8036-88B6-430AFB9F5A8F}"/>
              </a:ext>
            </a:extLst>
          </p:cNvPr>
          <p:cNvSpPr txBox="1"/>
          <p:nvPr/>
        </p:nvSpPr>
        <p:spPr>
          <a:xfrm>
            <a:off x="7239012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Genre Landscape:</a:t>
            </a:r>
            <a:r>
              <a:rPr lang="en-US" b="0" i="0" dirty="0">
                <a:effectLst/>
              </a:rPr>
              <a:t> A diverse mix of Rock, Classical, EDM, and Pop.</a:t>
            </a:r>
          </a:p>
          <a:p>
            <a:pPr indent="-228600">
              <a:lnSpc>
                <a:spcPct val="9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Objective:</a:t>
            </a:r>
            <a:r>
              <a:rPr lang="en-US" b="0" i="0" dirty="0">
                <a:effectLst/>
              </a:rPr>
              <a:t> To ensure the analysis is not biased toward a single demographic.</a:t>
            </a:r>
          </a:p>
          <a:p>
            <a:pPr indent="-228600">
              <a:lnSpc>
                <a:spcPct val="9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Insight:</a:t>
            </a:r>
            <a:r>
              <a:rPr lang="en-US" b="0" i="0" dirty="0">
                <a:effectLst/>
              </a:rPr>
              <a:t> The dataset covers cross-genre listening behaviors.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71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3">
            <a:extLst>
              <a:ext uri="{FF2B5EF4-FFF2-40B4-BE49-F238E27FC236}">
                <a16:creationId xmlns:a16="http://schemas.microsoft.com/office/drawing/2014/main" id="{1022CA72-2A63-428F-B586-37BA5AB6D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5153365-A35C-CCAA-F812-82F278951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4495568"/>
            <a:ext cx="3861960" cy="1905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/>
              <a:t>Distribution &amp; Correlation</a:t>
            </a:r>
            <a:br>
              <a:rPr lang="en-US" sz="3200" b="1"/>
            </a:br>
            <a:endParaRPr lang="en-US" sz="3200"/>
          </a:p>
        </p:txBody>
      </p:sp>
      <p:sp>
        <p:nvSpPr>
          <p:cNvPr id="22" name="Rectangle 15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-1"/>
            <a:ext cx="11231745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magine 6" descr="Immagine che contiene testo, schermata, diagramma, Parallelo&#10;&#10;Il contenuto generato dall'IA potrebbe non essere corretto.">
            <a:extLst>
              <a:ext uri="{FF2B5EF4-FFF2-40B4-BE49-F238E27FC236}">
                <a16:creationId xmlns:a16="http://schemas.microsoft.com/office/drawing/2014/main" id="{1A7BCF9A-7449-9B6B-425A-B6AB409F4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259" y="364143"/>
            <a:ext cx="3882676" cy="3426462"/>
          </a:xfrm>
          <a:prstGeom prst="rect">
            <a:avLst/>
          </a:prstGeom>
        </p:spPr>
      </p:pic>
      <p:pic>
        <p:nvPicPr>
          <p:cNvPr id="5" name="Segnaposto contenuto 4" descr="Immagine che contiene testo, diagramma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1E04C97D-7254-0CF8-FA65-0CD46A19CD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64" y="613386"/>
            <a:ext cx="5136795" cy="292797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837444" y="5460209"/>
            <a:ext cx="179036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B775F8C2-2E31-E236-42AA-1AAD133B1065}"/>
                  </a:ext>
                </a:extLst>
              </p:cNvPr>
              <p:cNvSpPr txBox="1"/>
              <p:nvPr/>
            </p:nvSpPr>
            <p:spPr>
              <a:xfrm>
                <a:off x="5162719" y="4495568"/>
                <a:ext cx="6586915" cy="190523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 indent="-228600">
                  <a:lnSpc>
                    <a:spcPct val="90000"/>
                  </a:lnSpc>
                  <a:spcAft>
                    <a:spcPts val="225"/>
                  </a:spcAft>
                  <a:buFont typeface="Arial" panose="020B0604020202020204" pitchFamily="34" charset="0"/>
                  <a:buChar char="•"/>
                </a:pPr>
                <a:r>
                  <a:rPr lang="en-US" b="1" i="0">
                    <a:effectLst/>
                  </a:rPr>
                  <a:t>Distributions:</a:t>
                </a:r>
                <a:r>
                  <a:rPr lang="en-US" b="0" i="0">
                    <a:effectLst/>
                  </a:rPr>
                  <a:t> The "Long Tail" effect is visible; few superstars, many standard tracks.</a:t>
                </a:r>
              </a:p>
              <a:p>
                <a:pPr indent="-228600">
                  <a:lnSpc>
                    <a:spcPct val="90000"/>
                  </a:lnSpc>
                  <a:spcAft>
                    <a:spcPts val="225"/>
                  </a:spcAft>
                  <a:buFont typeface="Arial" panose="020B0604020202020204" pitchFamily="34" charset="0"/>
                  <a:buChar char="•"/>
                </a:pPr>
                <a:r>
                  <a:rPr lang="en-US" b="1" i="0">
                    <a:effectLst/>
                  </a:rPr>
                  <a:t>Correlations:</a:t>
                </a:r>
                <a:r>
                  <a:rPr lang="en-US" b="0" i="0">
                    <a:effectLst/>
                  </a:rPr>
                  <a:t> Strong link between </a:t>
                </a:r>
                <a:r>
                  <a:rPr lang="en-US" b="0" i="1">
                    <a:effectLst/>
                  </a:rPr>
                  <a:t>Streams</a:t>
                </a:r>
                <a:r>
                  <a:rPr lang="en-US" b="0" i="0">
                    <a:effectLst/>
                  </a:rPr>
                  <a:t> and </a:t>
                </a:r>
                <a:r>
                  <a:rPr lang="en-US" b="0" i="1">
                    <a:effectLst/>
                  </a:rPr>
                  <a:t>Hours</a:t>
                </a:r>
                <a:r>
                  <a:rPr lang="en-US" b="0" i="0">
                    <a:effectLst/>
                  </a:rPr>
                  <a:t> (</a:t>
                </a:r>
              </a:p>
              <a:p>
                <a:pPr indent="-2286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0.94</m:t>
                    </m:r>
                  </m:oMath>
                </a14:m>
                <a:endParaRPr lang="en-US" b="0" i="0">
                  <a:effectLst/>
                </a:endParaRPr>
              </a:p>
              <a:p>
                <a:pPr indent="-2286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b="0" i="0">
                    <a:effectLst/>
                  </a:rPr>
                  <a:t>).</a:t>
                </a:r>
              </a:p>
              <a:p>
                <a:pPr indent="-228600">
                  <a:lnSpc>
                    <a:spcPct val="90000"/>
                  </a:lnSpc>
                  <a:spcAft>
                    <a:spcPts val="225"/>
                  </a:spcAft>
                  <a:buFont typeface="Arial" panose="020B0604020202020204" pitchFamily="34" charset="0"/>
                  <a:buChar char="•"/>
                </a:pPr>
                <a:r>
                  <a:rPr lang="en-US" b="1" i="0">
                    <a:effectLst/>
                  </a:rPr>
                  <a:t>The Anomaly:</a:t>
                </a:r>
                <a:r>
                  <a:rPr lang="en-US" b="0" i="0">
                    <a:effectLst/>
                  </a:rPr>
                  <a:t> </a:t>
                </a:r>
                <a:r>
                  <a:rPr lang="en-US" b="0" i="1">
                    <a:effectLst/>
                  </a:rPr>
                  <a:t>Monthly Listeners</a:t>
                </a:r>
                <a:r>
                  <a:rPr lang="en-US" b="0" i="0">
                    <a:effectLst/>
                  </a:rPr>
                  <a:t> behaves differently from raw streams.</a:t>
                </a:r>
              </a:p>
            </p:txBody>
          </p:sp>
        </mc:Choice>
        <mc:Fallback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B775F8C2-2E31-E236-42AA-1AAD133B1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719" y="4495568"/>
                <a:ext cx="6586915" cy="1905232"/>
              </a:xfrm>
              <a:prstGeom prst="rect">
                <a:avLst/>
              </a:prstGeom>
              <a:blipFill>
                <a:blip r:embed="rId4"/>
                <a:stretch>
                  <a:fillRect l="-833" t="-1917" b="-447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261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8BDFAA3-E7DE-09F7-F4FF-B600DA3C2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it-IT" sz="3600" b="1"/>
              <a:t>Methodology (Choosing K)</a:t>
            </a:r>
            <a:endParaRPr lang="it-IT" sz="3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 descr="Immagine che contiene diagramma, linea, testo, Diagramma&#10;&#10;Il contenuto generato dall'IA potrebbe non essere corretto.">
            <a:extLst>
              <a:ext uri="{FF2B5EF4-FFF2-40B4-BE49-F238E27FC236}">
                <a16:creationId xmlns:a16="http://schemas.microsoft.com/office/drawing/2014/main" id="{43B6DE2C-6C8C-C426-89E3-1B9DCB8DC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44" y="1349794"/>
            <a:ext cx="5628018" cy="392554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038EA4E-E62C-3DC7-1BDD-E65B2E4128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39012" y="2031101"/>
                <a:ext cx="4282984" cy="3511943"/>
              </a:xfrm>
            </p:spPr>
            <p:txBody>
              <a:bodyPr anchor="ctr">
                <a:normAutofit/>
              </a:bodyPr>
              <a:lstStyle/>
              <a:p>
                <a:r>
                  <a:rPr lang="it-IT" sz="1800" b="1"/>
                  <a:t>Optimizing K-Means:</a:t>
                </a:r>
                <a:endParaRPr lang="it-IT" sz="1800"/>
              </a:p>
              <a:p>
                <a:r>
                  <a:rPr lang="it-IT" sz="1800"/>
                  <a:t>Tested </a:t>
                </a:r>
                <a14:m>
                  <m:oMath xmlns:m="http://schemas.openxmlformats.org/officeDocument/2006/math">
                    <m:r>
                      <a:rPr lang="it-IT" sz="1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it-IT" sz="180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it-IT" sz="1800"/>
                  <a:t> to </a:t>
                </a:r>
                <a14:m>
                  <m:oMath xmlns:m="http://schemas.openxmlformats.org/officeDocument/2006/math">
                    <m:r>
                      <a:rPr lang="it-IT" sz="1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it-IT" sz="180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it-IT" sz="180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it-IT" sz="1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it-IT" sz="180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it-IT" sz="1800" b="1"/>
                  <a:t> (Macro):</a:t>
                </a:r>
                <a:r>
                  <a:rPr lang="it-IT" sz="1800"/>
                  <a:t> Highest Silhouette score (Clear separation).</a:t>
                </a:r>
              </a:p>
              <a:p>
                <a14:m>
                  <m:oMath xmlns:m="http://schemas.openxmlformats.org/officeDocument/2006/math">
                    <m:r>
                      <a:rPr lang="it-IT" sz="1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it-IT" sz="180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it-IT" sz="1800" b="1"/>
                  <a:t> (Micro):</a:t>
                </a:r>
                <a:r>
                  <a:rPr lang="it-IT" sz="1800"/>
                  <a:t> Best balance for business granularity (Elbow Method).</a:t>
                </a:r>
              </a:p>
              <a:p>
                <a:endParaRPr lang="it-IT" sz="180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038EA4E-E62C-3DC7-1BDD-E65B2E4128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39012" y="2031101"/>
                <a:ext cx="4282984" cy="3511943"/>
              </a:xfrm>
              <a:blipFill>
                <a:blip r:embed="rId3"/>
                <a:stretch>
                  <a:fillRect l="-99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69D0816-E45C-3AF1-5993-F04830F2C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it-IT" sz="3600" b="1"/>
              <a:t>Feature Importance</a:t>
            </a:r>
            <a:endParaRPr lang="it-IT" sz="3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B7903CFF-AF72-3020-A629-73865F247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44" y="1624160"/>
            <a:ext cx="5628018" cy="337681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8D57DA-B2AB-40E9-68DA-72E3B0A96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12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1800" b="1"/>
              <a:t>What drives the clusters?</a:t>
            </a:r>
            <a:endParaRPr lang="en-US" sz="1800"/>
          </a:p>
          <a:p>
            <a:r>
              <a:rPr lang="en-US" sz="1800" b="1"/>
              <a:t>Key Drivers:</a:t>
            </a:r>
            <a:r>
              <a:rPr lang="en-US" sz="1800"/>
              <a:t> </a:t>
            </a:r>
            <a:r>
              <a:rPr lang="en-US" sz="1800" i="1"/>
              <a:t>Total Streams</a:t>
            </a:r>
            <a:r>
              <a:rPr lang="en-US" sz="1800"/>
              <a:t> and </a:t>
            </a:r>
            <a:r>
              <a:rPr lang="en-US" sz="1800" i="1"/>
              <a:t>Monthly Listeners</a:t>
            </a:r>
            <a:r>
              <a:rPr lang="en-US" sz="1800"/>
              <a:t>.</a:t>
            </a:r>
          </a:p>
          <a:p>
            <a:r>
              <a:rPr lang="en-US" sz="1800" b="1"/>
              <a:t>Insight:</a:t>
            </a:r>
            <a:r>
              <a:rPr lang="en-US" sz="1800"/>
              <a:t> Genre (low bars on the right) is mathematically irrelevant for defining success tiers.</a:t>
            </a:r>
          </a:p>
          <a:p>
            <a:endParaRPr lang="it-IT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39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2C8DB114-0A52-701B-D8BB-AEEF488675A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239014" y="525982"/>
                <a:ext cx="4282983" cy="1200361"/>
              </a:xfrm>
            </p:spPr>
            <p:txBody>
              <a:bodyPr anchor="b">
                <a:normAutofit/>
              </a:bodyPr>
              <a:lstStyle/>
              <a:p>
                <a:r>
                  <a:rPr lang="it-IT" sz="3300" b="1"/>
                  <a:t>Macro-Segmentation (</a:t>
                </a:r>
                <a14:m>
                  <m:oMath xmlns:m="http://schemas.openxmlformats.org/officeDocument/2006/math">
                    <m:r>
                      <a:rPr lang="it-IT" sz="33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it-IT" sz="330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it-IT" sz="3300" b="1"/>
                  <a:t>) - Overview</a:t>
                </a:r>
                <a:endParaRPr lang="it-IT" sz="3300"/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2C8DB114-0A52-701B-D8BB-AEEF488675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39014" y="525982"/>
                <a:ext cx="4282983" cy="1200361"/>
              </a:xfrm>
              <a:blipFill>
                <a:blip r:embed="rId2"/>
                <a:stretch>
                  <a:fillRect l="-3846" b="-1776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99711C3A-46FB-554B-DC7D-983407287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44" y="1152813"/>
            <a:ext cx="5628018" cy="431950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A6E78F-A353-A987-DE93-0DC94F3F1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12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1800" b="1"/>
              <a:t>The Binary Split:</a:t>
            </a:r>
            <a:endParaRPr lang="en-US" sz="1800"/>
          </a:p>
          <a:p>
            <a:r>
              <a:rPr lang="en-US" sz="1800" b="1"/>
              <a:t>Cluster 0 (Blue):</a:t>
            </a:r>
            <a:r>
              <a:rPr lang="en-US" sz="1800"/>
              <a:t> Standard Performance.</a:t>
            </a:r>
          </a:p>
          <a:p>
            <a:r>
              <a:rPr lang="en-US" sz="1800" b="1"/>
              <a:t>Cluster 1 (Orange):</a:t>
            </a:r>
            <a:r>
              <a:rPr lang="en-US" sz="1800"/>
              <a:t> Elite Performance.</a:t>
            </a:r>
          </a:p>
          <a:p>
            <a:r>
              <a:rPr lang="en-US" sz="1800" b="1"/>
              <a:t>Insight:</a:t>
            </a:r>
            <a:r>
              <a:rPr lang="en-US" sz="1800"/>
              <a:t> A linear relationship between effort (Hours) and result (Streams).</a:t>
            </a:r>
          </a:p>
          <a:p>
            <a:endParaRPr lang="it-IT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382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30" name="Rectangle 14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17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1F68AF35-F52D-3FA9-9205-7690C44AEC2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057025" y="922644"/>
                <a:ext cx="5040285" cy="1169585"/>
              </a:xfrm>
            </p:spPr>
            <p:txBody>
              <a:bodyPr anchor="b">
                <a:normAutofit fontScale="90000"/>
              </a:bodyPr>
              <a:lstStyle/>
              <a:p>
                <a:r>
                  <a:rPr lang="it-IT" sz="3700" b="1"/>
                  <a:t> Macro-Segmentation (</a:t>
                </a:r>
                <a14:m>
                  <m:oMath xmlns:m="http://schemas.openxmlformats.org/officeDocument/2006/math">
                    <m:r>
                      <a:rPr lang="it-IT" sz="37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it-IT" sz="370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it-IT" sz="3700" b="1"/>
                  <a:t>) - Volume Metrics</a:t>
                </a:r>
                <a:endParaRPr lang="it-IT" sz="3700"/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1F68AF35-F52D-3FA9-9205-7690C44AEC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57025" y="922644"/>
                <a:ext cx="5040285" cy="1169585"/>
              </a:xfrm>
              <a:blipFill>
                <a:blip r:embed="rId2"/>
                <a:stretch>
                  <a:fillRect l="-1693" b="-182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19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BC0CDDD-42A3-B89D-4523-8F6055C08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r>
              <a:rPr lang="en-US" sz="2000" b="1"/>
              <a:t>Deep Dive: Volume:</a:t>
            </a:r>
            <a:endParaRPr lang="en-US" sz="2000"/>
          </a:p>
          <a:p>
            <a:r>
              <a:rPr lang="en-US" sz="2000" b="1"/>
              <a:t>Gap:</a:t>
            </a:r>
            <a:r>
              <a:rPr lang="en-US" sz="2000"/>
              <a:t> Massive separation between the two tiers.</a:t>
            </a:r>
          </a:p>
          <a:p>
            <a:r>
              <a:rPr lang="en-US" sz="2000" b="1"/>
              <a:t>Scale:</a:t>
            </a:r>
            <a:r>
              <a:rPr lang="en-US" sz="2000"/>
              <a:t> 'Elite' tracks operate on a scale of Billions, while standard tracks are in the Millions.</a:t>
            </a:r>
          </a:p>
          <a:p>
            <a:endParaRPr lang="it-IT" sz="2000"/>
          </a:p>
        </p:txBody>
      </p:sp>
      <p:pic>
        <p:nvPicPr>
          <p:cNvPr id="7" name="Immagine 6" descr="Immagine che contiene diagramma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5DA8013B-6E55-9447-F079-3195FCD3A2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667" y="1346153"/>
            <a:ext cx="4389120" cy="1437436"/>
          </a:xfrm>
          <a:prstGeom prst="rect">
            <a:avLst/>
          </a:prstGeom>
        </p:spPr>
      </p:pic>
      <p:pic>
        <p:nvPicPr>
          <p:cNvPr id="5" name="Immagine 4" descr="Immagine che contiene schermata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9595CC2C-CBD2-95FC-5043-4FE833067E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667" y="4146942"/>
            <a:ext cx="4389120" cy="143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089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73202BEA-DFAD-0501-6A52-5103CF99349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057025" y="922644"/>
                <a:ext cx="5040285" cy="1169585"/>
              </a:xfrm>
            </p:spPr>
            <p:txBody>
              <a:bodyPr anchor="b">
                <a:normAutofit/>
              </a:bodyPr>
              <a:lstStyle/>
              <a:p>
                <a:r>
                  <a:rPr lang="fr-FR" sz="3100" b="1"/>
                  <a:t> Macro-Segmentation (</a:t>
                </a:r>
                <a14:m>
                  <m:oMath xmlns:m="http://schemas.openxmlformats.org/officeDocument/2006/math">
                    <m:r>
                      <a:rPr lang="fr-FR" sz="31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sz="310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fr-FR" sz="3100" b="1"/>
                  <a:t>) - Audience &amp; Duration</a:t>
                </a:r>
                <a:endParaRPr lang="it-IT" sz="3100"/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73202BEA-DFAD-0501-6A52-5103CF9934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57025" y="922644"/>
                <a:ext cx="5040285" cy="1169585"/>
              </a:xfrm>
              <a:blipFill>
                <a:blip r:embed="rId2"/>
                <a:stretch>
                  <a:fillRect l="-1451" b="-1718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9C371E6-238A-32F3-D415-D42C98E8F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r>
              <a:rPr lang="en-US" sz="2000" b="1"/>
              <a:t>Deep Dive: Behavior:</a:t>
            </a:r>
            <a:endParaRPr lang="en-US" sz="2000"/>
          </a:p>
          <a:p>
            <a:r>
              <a:rPr lang="en-US" sz="2000" b="1"/>
              <a:t>Listeners:</a:t>
            </a:r>
            <a:r>
              <a:rPr lang="en-US" sz="2000"/>
              <a:t> Elite tracks also command significantly larger audiences.</a:t>
            </a:r>
          </a:p>
          <a:p>
            <a:r>
              <a:rPr lang="en-US" sz="2000" b="1"/>
              <a:t>Duration:</a:t>
            </a:r>
            <a:r>
              <a:rPr lang="en-US" sz="2000"/>
              <a:t> Minimal difference in song length between hits and standard tracks.</a:t>
            </a:r>
          </a:p>
          <a:p>
            <a:endParaRPr lang="it-IT" sz="2000"/>
          </a:p>
        </p:txBody>
      </p:sp>
      <p:pic>
        <p:nvPicPr>
          <p:cNvPr id="5" name="Immagine 4" descr="Immagine che contiene schermata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16C87FFC-2443-F5D7-4522-B341E6C824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667" y="1346153"/>
            <a:ext cx="4389120" cy="1437436"/>
          </a:xfrm>
          <a:prstGeom prst="rect">
            <a:avLst/>
          </a:prstGeom>
        </p:spPr>
      </p:pic>
      <p:pic>
        <p:nvPicPr>
          <p:cNvPr id="7" name="Immagine 6" descr="Immagine che contiene schermata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C3795C78-004A-96CC-F47F-46DF1F686A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667" y="4146942"/>
            <a:ext cx="4389120" cy="143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50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2F6DE0F8-7F2E-3914-CD1F-5A4D418F7E5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239014" y="525982"/>
                <a:ext cx="4282983" cy="1200361"/>
              </a:xfrm>
            </p:spPr>
            <p:txBody>
              <a:bodyPr anchor="b">
                <a:normAutofit/>
              </a:bodyPr>
              <a:lstStyle/>
              <a:p>
                <a:r>
                  <a:rPr lang="it-IT" sz="2500" b="1"/>
                  <a:t>Micro-Segmentation (</a:t>
                </a:r>
                <a14:m>
                  <m:oMath xmlns:m="http://schemas.openxmlformats.org/officeDocument/2006/math">
                    <m:r>
                      <a:rPr lang="it-IT" sz="25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it-IT" sz="250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it-IT" sz="2500" b="1"/>
                  <a:t>) - Overview</a:t>
                </a:r>
                <a:br>
                  <a:rPr lang="it-IT" sz="2500" b="1"/>
                </a:br>
                <a:endParaRPr lang="it-IT" sz="2500"/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2F6DE0F8-7F2E-3914-CD1F-5A4D418F7E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39014" y="525982"/>
                <a:ext cx="4282983" cy="1200361"/>
              </a:xfrm>
              <a:blipFill>
                <a:blip r:embed="rId2"/>
                <a:stretch>
                  <a:fillRect l="-242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 descr="Immagine che contiene schermata, testo, Policromia, diagramma&#10;&#10;Il contenuto generato dall'IA potrebbe non essere corretto.">
            <a:extLst>
              <a:ext uri="{FF2B5EF4-FFF2-40B4-BE49-F238E27FC236}">
                <a16:creationId xmlns:a16="http://schemas.microsoft.com/office/drawing/2014/main" id="{22099AA1-BA71-847C-1A78-D549FC7278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44" y="1124673"/>
            <a:ext cx="5628018" cy="437578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1E2C5E-3D73-B4FA-94C9-CC03DD011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12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1800" b="1"/>
              <a:t>Beyond the Binary:</a:t>
            </a:r>
            <a:endParaRPr lang="en-US" sz="1800"/>
          </a:p>
          <a:p>
            <a:r>
              <a:rPr lang="en-US" sz="1800"/>
              <a:t>The linear pattern breaks down.</a:t>
            </a:r>
          </a:p>
          <a:p>
            <a:r>
              <a:rPr lang="en-US" sz="1800" b="1"/>
              <a:t>New Segments:</a:t>
            </a:r>
            <a:r>
              <a:rPr lang="en-US" sz="1800"/>
              <a:t> We can now identify specific behaviors, such as "Loyal Fanbases" vs. "Viral Hits".</a:t>
            </a:r>
          </a:p>
          <a:p>
            <a:endParaRPr lang="it-IT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76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magine 6" descr="Immagine che contiene diagramma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FF1B91A6-D75D-66A1-483F-683F3DDE4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76" y="1078011"/>
            <a:ext cx="5298894" cy="1735387"/>
          </a:xfrm>
          <a:prstGeom prst="rect">
            <a:avLst/>
          </a:prstGeom>
        </p:spPr>
      </p:pic>
      <p:pic>
        <p:nvPicPr>
          <p:cNvPr id="5" name="Immagine 4" descr="Immagine che contiene diagramma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D0369B93-59CF-E74C-F9D8-DAC68F982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76" y="4041033"/>
            <a:ext cx="5298894" cy="1735387"/>
          </a:xfrm>
          <a:prstGeom prst="rect">
            <a:avLst/>
          </a:prstGeom>
        </p:spPr>
      </p:pic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6A5A31-B10A-4793-84D4-D785959AE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201" y="623275"/>
            <a:ext cx="5141626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D5399523-AE6C-1B4E-4C22-4730423F256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889833" y="1188637"/>
                <a:ext cx="4218138" cy="1597228"/>
              </a:xfrm>
            </p:spPr>
            <p:txBody>
              <a:bodyPr>
                <a:normAutofit/>
              </a:bodyPr>
              <a:lstStyle/>
              <a:p>
                <a:r>
                  <a:rPr lang="it-IT" sz="3400" b="1"/>
                  <a:t> Micro-Segmentation (</a:t>
                </a:r>
                <a14:m>
                  <m:oMath xmlns:m="http://schemas.openxmlformats.org/officeDocument/2006/math">
                    <m:r>
                      <a:rPr lang="it-IT" sz="3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it-IT" sz="340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it-IT" sz="3400" b="1"/>
                  <a:t>) - Volume Metrics</a:t>
                </a:r>
                <a:endParaRPr lang="it-IT" sz="3400"/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D5399523-AE6C-1B4E-4C22-4730423F25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89833" y="1188637"/>
                <a:ext cx="4218138" cy="1597228"/>
              </a:xfrm>
              <a:blipFill>
                <a:blip r:embed="rId4"/>
                <a:stretch>
                  <a:fillRect l="-4046" t="-5344" r="-1301" b="-1030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F8CF2D9-C092-EEC8-71A0-4D6F032A8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832" y="2998278"/>
            <a:ext cx="3709743" cy="1959387"/>
          </a:xfrm>
        </p:spPr>
        <p:txBody>
          <a:bodyPr anchor="t">
            <a:normAutofit/>
          </a:bodyPr>
          <a:lstStyle/>
          <a:p>
            <a:r>
              <a:rPr lang="en-US" sz="1600" b="1"/>
              <a:t>Defining the Tiers:</a:t>
            </a:r>
            <a:endParaRPr lang="en-US" sz="1600"/>
          </a:p>
          <a:p>
            <a:r>
              <a:rPr lang="en-US" sz="1600" b="1"/>
              <a:t>Cluster 3 (Red):</a:t>
            </a:r>
            <a:r>
              <a:rPr lang="en-US" sz="1600"/>
              <a:t> The "Superstars" (Highest volume).</a:t>
            </a:r>
          </a:p>
          <a:p>
            <a:r>
              <a:rPr lang="en-US" sz="1600" b="1"/>
              <a:t>Cluster 1 (Orange):</a:t>
            </a:r>
            <a:r>
              <a:rPr lang="en-US" sz="1600"/>
              <a:t> The "High Performers".</a:t>
            </a:r>
          </a:p>
          <a:p>
            <a:r>
              <a:rPr lang="en-US" sz="1600" b="1"/>
              <a:t>Cluster 0 &amp; 2:</a:t>
            </a:r>
            <a:r>
              <a:rPr lang="en-US" sz="1600"/>
              <a:t> The developing tracks.</a:t>
            </a:r>
          </a:p>
          <a:p>
            <a:endParaRPr lang="it-IT" sz="1600"/>
          </a:p>
        </p:txBody>
      </p:sp>
    </p:spTree>
    <p:extLst>
      <p:ext uri="{BB962C8B-B14F-4D97-AF65-F5344CB8AC3E}">
        <p14:creationId xmlns:p14="http://schemas.microsoft.com/office/powerpoint/2010/main" val="4016553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 descr="Immagine che contiene diagramma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44697EC7-2B9A-ED85-8685-93DCE5469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76" y="1078011"/>
            <a:ext cx="5298894" cy="1735387"/>
          </a:xfrm>
          <a:prstGeom prst="rect">
            <a:avLst/>
          </a:prstGeom>
        </p:spPr>
      </p:pic>
      <p:pic>
        <p:nvPicPr>
          <p:cNvPr id="7" name="Immagine 6" descr="Immagine che contiene diagramma, Diagramma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89E5E540-8D84-162A-3B43-C109B2D985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76" y="4041033"/>
            <a:ext cx="5298894" cy="1735387"/>
          </a:xfrm>
          <a:prstGeom prst="rect">
            <a:avLst/>
          </a:prstGeom>
        </p:spPr>
      </p:pic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6A5A31-B10A-4793-84D4-D785959AE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201" y="623275"/>
            <a:ext cx="5141626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E836D19B-959C-83DF-952D-C9CEA258B00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889833" y="1188637"/>
                <a:ext cx="4218138" cy="1597228"/>
              </a:xfrm>
            </p:spPr>
            <p:txBody>
              <a:bodyPr>
                <a:normAutofit/>
              </a:bodyPr>
              <a:lstStyle/>
              <a:p>
                <a:r>
                  <a:rPr lang="fr-FR" sz="3400" b="1"/>
                  <a:t>Micro-Segmentation (</a:t>
                </a:r>
                <a14:m>
                  <m:oMath xmlns:m="http://schemas.openxmlformats.org/officeDocument/2006/math">
                    <m:r>
                      <a:rPr lang="fr-FR" sz="3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sz="340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fr-FR" sz="3400" b="1"/>
                  <a:t>) - Audience &amp; Duration</a:t>
                </a:r>
                <a:endParaRPr lang="it-IT" sz="3400"/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E836D19B-959C-83DF-952D-C9CEA258B0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89833" y="1188637"/>
                <a:ext cx="4218138" cy="1597228"/>
              </a:xfrm>
              <a:blipFill>
                <a:blip r:embed="rId4"/>
                <a:stretch>
                  <a:fillRect l="-4046" t="-5344" b="-1030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0A0A46-3482-03C3-2B6C-93F23306A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832" y="2998278"/>
            <a:ext cx="3709743" cy="1959387"/>
          </a:xfrm>
        </p:spPr>
        <p:txBody>
          <a:bodyPr anchor="t">
            <a:normAutofit/>
          </a:bodyPr>
          <a:lstStyle/>
          <a:p>
            <a:r>
              <a:rPr lang="en-US" sz="1400" b="1"/>
              <a:t>Nuanced Behavior:</a:t>
            </a:r>
            <a:endParaRPr lang="en-US" sz="1400"/>
          </a:p>
          <a:p>
            <a:r>
              <a:rPr lang="en-US" sz="1400" b="1"/>
              <a:t>Listeners:</a:t>
            </a:r>
            <a:r>
              <a:rPr lang="en-US" sz="1400"/>
              <a:t> Some clusters show high streams but moderate listener counts (High Retention).</a:t>
            </a:r>
          </a:p>
          <a:p>
            <a:r>
              <a:rPr lang="en-US" sz="1400" b="1"/>
              <a:t>Duration:</a:t>
            </a:r>
            <a:r>
              <a:rPr lang="en-US" sz="1400"/>
              <a:t> The "Superstar" cluster shows a specific distribution in duration, slightly different from the lower tiers.</a:t>
            </a:r>
          </a:p>
          <a:p>
            <a:endParaRPr lang="it-IT" sz="1400"/>
          </a:p>
        </p:txBody>
      </p:sp>
    </p:spTree>
    <p:extLst>
      <p:ext uri="{BB962C8B-B14F-4D97-AF65-F5344CB8AC3E}">
        <p14:creationId xmlns:p14="http://schemas.microsoft.com/office/powerpoint/2010/main" val="930950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30E47EA-3B65-363D-628D-8A5CD59A0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it-IT" b="1"/>
              <a:t>The Evolution (Sankey Diagram)</a:t>
            </a:r>
            <a:endParaRPr lang="it-IT" dirty="0"/>
          </a:p>
        </p:txBody>
      </p:sp>
      <p:sp>
        <p:nvSpPr>
          <p:cNvPr id="17" name="Arc 11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magine 4" descr="Immagine che contiene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D5CC80E7-567F-EAF2-679A-6FB6181EC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14" y="715496"/>
            <a:ext cx="10872172" cy="2935487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3033D8E-3B8A-4C08-1E4F-089C68406D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70835" y="3998019"/>
                <a:ext cx="6382966" cy="2216512"/>
              </a:xfrm>
            </p:spPr>
            <p:txBody>
              <a:bodyPr>
                <a:normAutofit/>
              </a:bodyPr>
              <a:lstStyle/>
              <a:p>
                <a:r>
                  <a:rPr lang="en-US" sz="2000" b="1"/>
                  <a:t>Trace Flow:</a:t>
                </a:r>
                <a:endParaRPr lang="en-US" sz="2000"/>
              </a:p>
              <a:p>
                <a:r>
                  <a:rPr lang="en-US" sz="2000"/>
                  <a:t>From Macro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000"/>
                  <a:t>) to Micro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2000"/>
                  <a:t>).</a:t>
                </a:r>
              </a:p>
              <a:p>
                <a:r>
                  <a:rPr lang="en-US" sz="2000" b="1"/>
                  <a:t>Discovery:</a:t>
                </a:r>
                <a:r>
                  <a:rPr lang="en-US" sz="2000"/>
                  <a:t> The "Standard" group (Blue, Left) splits into </a:t>
                </a:r>
                <a:r>
                  <a:rPr lang="en-US" sz="2000" b="1"/>
                  <a:t>three</a:t>
                </a:r>
                <a:r>
                  <a:rPr lang="en-US" sz="2000"/>
                  <a:t> distinct sub-tiers on the right.</a:t>
                </a:r>
              </a:p>
              <a:p>
                <a:r>
                  <a:rPr lang="en-US" sz="2000" b="1"/>
                  <a:t>Strategy:</a:t>
                </a:r>
                <a:r>
                  <a:rPr lang="en-US" sz="2000"/>
                  <a:t> Identify "Standard" tracks with the potential to jump to the next tier.</a:t>
                </a:r>
              </a:p>
              <a:p>
                <a:endParaRPr lang="it-IT" sz="200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3033D8E-3B8A-4C08-1E4F-089C68406D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70835" y="3998019"/>
                <a:ext cx="6382966" cy="2216512"/>
              </a:xfrm>
              <a:blipFill>
                <a:blip r:embed="rId3"/>
                <a:stretch>
                  <a:fillRect l="-859" t="-2755" b="-82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4591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C4D550-770A-528F-F57B-8012B5EA1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 err="1"/>
              <a:t>Conclusions</a:t>
            </a:r>
            <a:r>
              <a:rPr lang="it-IT" b="1" dirty="0"/>
              <a:t> &amp; </a:t>
            </a:r>
            <a:r>
              <a:rPr lang="it-IT" b="1" dirty="0" err="1"/>
              <a:t>Recommendations</a:t>
            </a:r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CF48ADF-DF2D-1CF9-5D85-F0EE25D72F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Business Takeaways:</a:t>
                </a:r>
                <a:endParaRPr lang="en-US" dirty="0"/>
              </a:p>
              <a:p>
                <a:r>
                  <a:rPr lang="en-US" b="1" dirty="0"/>
                  <a:t>1. Segmentation:</a:t>
                </a:r>
                <a:r>
                  <a:rPr lang="en-US" dirty="0"/>
                  <a:t> Use </a:t>
                </a:r>
                <a14:m>
                  <m:oMath xmlns:m="http://schemas.openxmlformats.org/officeDocument/2006/math">
                    <m:r>
                      <a:rPr lang="en-US" i="1"/>
                      <m:t>𝑘</m:t>
                    </m:r>
                    <m:r>
                      <a:rPr lang="en-US"/>
                      <m:t>=4</m:t>
                    </m:r>
                  </m:oMath>
                </a14:m>
                <a:r>
                  <a:rPr lang="en-US" dirty="0"/>
                  <a:t> to classify artists into "Developing", "Established", and "Superstar".</a:t>
                </a:r>
              </a:p>
              <a:p>
                <a:r>
                  <a:rPr lang="en-US" b="1" dirty="0"/>
                  <a:t>2. Metrics:</a:t>
                </a:r>
                <a:r>
                  <a:rPr lang="en-US" dirty="0"/>
                  <a:t> Focus on the </a:t>
                </a:r>
                <a:r>
                  <a:rPr lang="en-US" i="1" dirty="0"/>
                  <a:t>ratio</a:t>
                </a:r>
                <a:r>
                  <a:rPr lang="en-US" dirty="0"/>
                  <a:t> between Streams and Listeners, not just the totals.</a:t>
                </a:r>
              </a:p>
              <a:p>
                <a:r>
                  <a:rPr lang="en-US" b="1" dirty="0"/>
                  <a:t>3. Investment:</a:t>
                </a:r>
                <a:r>
                  <a:rPr lang="en-US" dirty="0"/>
                  <a:t> Target tracks in the upper "Standard" tier for promotion to push them into the "Elite" cluster.</a:t>
                </a:r>
              </a:p>
              <a:p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CF48ADF-DF2D-1CF9-5D85-F0EE25D72F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 r="-156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8422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574</Words>
  <Application>Microsoft Office PowerPoint</Application>
  <PresentationFormat>Widescreen</PresentationFormat>
  <Paragraphs>57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Cambria Math</vt:lpstr>
      <vt:lpstr>Tema di Office</vt:lpstr>
      <vt:lpstr>Spotify Global Streaming Data (2024) analysis</vt:lpstr>
      <vt:lpstr> Dataset Composition  </vt:lpstr>
      <vt:lpstr>Distribution &amp; Correlation </vt:lpstr>
      <vt:lpstr>Methodology (Choosing K)</vt:lpstr>
      <vt:lpstr>Feature Importance</vt:lpstr>
      <vt:lpstr>Macro-Segmentation (k=2) - Overview</vt:lpstr>
      <vt:lpstr> Macro-Segmentation (k=2) - Volume Metrics</vt:lpstr>
      <vt:lpstr> Macro-Segmentation (k=2) - Audience &amp; Duration</vt:lpstr>
      <vt:lpstr>Micro-Segmentation (k=4) - Overview </vt:lpstr>
      <vt:lpstr> Micro-Segmentation (k=4) - Volume Metrics</vt:lpstr>
      <vt:lpstr>Micro-Segmentation (k=4) - Audience &amp; Duration</vt:lpstr>
      <vt:lpstr>The Evolution (Sankey Diagram)</vt:lpstr>
      <vt:lpstr>Conclusions &amp;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Calloni</dc:creator>
  <cp:lastModifiedBy>Matteo Calloni</cp:lastModifiedBy>
  <cp:revision>1</cp:revision>
  <dcterms:created xsi:type="dcterms:W3CDTF">2025-12-01T10:03:48Z</dcterms:created>
  <dcterms:modified xsi:type="dcterms:W3CDTF">2025-12-01T10:35:05Z</dcterms:modified>
</cp:coreProperties>
</file>